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6858000" cx="12192000"/>
  <p:notesSz cx="6858000" cy="9144000"/>
  <p:embeddedFontLst>
    <p:embeddedFont>
      <p:font typeface="DM Sans"/>
      <p:regular r:id="rId10"/>
      <p:bold r:id="rId11"/>
      <p:italic r:id="rId12"/>
      <p:boldItalic r:id="rId13"/>
    </p:embeddedFont>
    <p:embeddedFont>
      <p:font typeface="JetBrains Mono"/>
      <p:regular r:id="rId14"/>
      <p:bold r:id="rId15"/>
      <p:italic r:id="rId16"/>
      <p:boldItalic r:id="rId17"/>
    </p:embeddedFont>
    <p:embeddedFont>
      <p:font typeface="Space Grotesk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FEE954-DFB4-4F73-B0A1-C4ED2DFE179B}">
  <a:tblStyle styleId="{96FEE954-DFB4-4F73-B0A1-C4ED2DFE179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DMSans-bold.fntdata"/><Relationship Id="rId10" Type="http://schemas.openxmlformats.org/officeDocument/2006/relationships/font" Target="fonts/DMSans-regular.fntdata"/><Relationship Id="rId13" Type="http://schemas.openxmlformats.org/officeDocument/2006/relationships/font" Target="fonts/DMSans-boldItalic.fntdata"/><Relationship Id="rId12" Type="http://schemas.openxmlformats.org/officeDocument/2006/relationships/font" Target="fonts/DM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JetBrainsMono-bold.fntdata"/><Relationship Id="rId14" Type="http://schemas.openxmlformats.org/officeDocument/2006/relationships/font" Target="fonts/JetBrainsMono-regular.fntdata"/><Relationship Id="rId17" Type="http://schemas.openxmlformats.org/officeDocument/2006/relationships/font" Target="fonts/JetBrainsMono-boldItalic.fntdata"/><Relationship Id="rId16" Type="http://schemas.openxmlformats.org/officeDocument/2006/relationships/font" Target="fonts/JetBrainsMono-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SpaceGrotesk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SpaceGrotesk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3262312"/>
            <a:ext cx="4605188" cy="1762125"/>
          </a:xfrm>
          <a:prstGeom prst="roundRect">
            <a:avLst>
              <a:gd fmla="val 648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5595788" y="1928812"/>
            <a:ext cx="5986611" cy="447675"/>
          </a:xfrm>
          <a:prstGeom prst="roundRect">
            <a:avLst>
              <a:gd fmla="val 1702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5595788" y="2471737"/>
            <a:ext cx="5986611" cy="447675"/>
          </a:xfrm>
          <a:prstGeom prst="roundRect">
            <a:avLst>
              <a:gd fmla="val 1702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595788" y="3014662"/>
            <a:ext cx="5986611" cy="447675"/>
          </a:xfrm>
          <a:prstGeom prst="roundRect">
            <a:avLst>
              <a:gd fmla="val 1702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5595788" y="3557587"/>
            <a:ext cx="5986611" cy="447675"/>
          </a:xfrm>
          <a:prstGeom prst="roundRect">
            <a:avLst>
              <a:gd fmla="val 1702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595788" y="4100512"/>
            <a:ext cx="5986611" cy="447675"/>
          </a:xfrm>
          <a:prstGeom prst="roundRect">
            <a:avLst>
              <a:gd fmla="val 1702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5595788" y="4643437"/>
            <a:ext cx="5986611" cy="447675"/>
          </a:xfrm>
          <a:prstGeom prst="roundRect">
            <a:avLst>
              <a:gd fmla="val 1702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5595788" y="5186362"/>
            <a:ext cx="5986611" cy="447675"/>
          </a:xfrm>
          <a:prstGeom prst="roundRect">
            <a:avLst>
              <a:gd fmla="val 1702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2" name="Google Shape;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786187"/>
            <a:ext cx="334744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DESAFIO 01 • MODELAGEM MDP • GYMNASIUM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Ambiente e Estado Markoviano (ℝ⁷)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09600" y="2538412"/>
            <a:ext cx="470043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Estratégia de corrida (50 voltas em Interlagos) controlando ritmo e janela de Pit Stop.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38200" y="3490912"/>
            <a:ext cx="51849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GATILHO • POR QUE É MARKOVIANO?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838200" y="4110037"/>
            <a:ext cx="424323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Memória física (desgaste/combustível) + memória regulatória FIA (compostos usados) no estado atual.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786288" y="2043112"/>
            <a:ext cx="41505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0. Progresso da Corrida (lap_progress)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0344150" y="2043112"/>
            <a:ext cx="1333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[0.0, 1.0]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5786288" y="2586037"/>
            <a:ext cx="34004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Desgaste do Pneu (tire_wear)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0344150" y="2586037"/>
            <a:ext cx="1333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[0.0, 1.0]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5786288" y="3128962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Composto Ativo (tire_compound)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9820275" y="3128962"/>
            <a:ext cx="19645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{0:S, 1:M, 2:H}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5786288" y="3671887"/>
            <a:ext cx="401300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Fração de Combustível (fuel_ratio)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10344150" y="3671887"/>
            <a:ext cx="1333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[0.0, 1.0]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5786288" y="4214812"/>
            <a:ext cx="407550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Total de Paradas (pit_stops_count)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10658475" y="4214812"/>
            <a:ext cx="10191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[0, 10]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5786288" y="4757737"/>
            <a:ext cx="42880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5. Delta da Última Volta (last_lap_delta)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10029825" y="4757737"/>
            <a:ext cx="17025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[-10, +150 s]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5786288" y="5300662"/>
            <a:ext cx="46755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6. Compostos Usados (unique_compounds)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10029825" y="5300662"/>
            <a:ext cx="17025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{1, 2, 3} FIA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" name="Google Shape;116;p14"/>
          <p:cNvGraphicFramePr/>
          <p:nvPr/>
        </p:nvGraphicFramePr>
        <p:xfrm>
          <a:off x="609600" y="17649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{96FEE954-DFB4-4F73-B0A1-C4ED2DFE179B}</a:tableStyleId>
              </a:tblPr>
              <a:tblGrid>
                <a:gridCol w="1833850"/>
                <a:gridCol w="2571450"/>
                <a:gridCol w="1833850"/>
                <a:gridCol w="2735450"/>
                <a:gridCol w="1998175"/>
              </a:tblGrid>
              <a:tr h="551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Ação (Aₜ)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Decisão Estratégica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Delta Ritmo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Desgaste / Comb.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Limite (Tire Cliff)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DC262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0: PUSH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Pista: Ataque Máximo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6A34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-0.90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DC262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×1.55 / ×1.18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748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Mantém composto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1: BALANCED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Pista: Ritmo Nominal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0.00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×1.00 / ×1.00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748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Mantém composto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2: CONSERVE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Pista: Economia Pneu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+0.90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16A34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×0.70 / ×0.90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748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Mantém composto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BE123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3: PIT_SOFT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8813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Box (+22s): Pneu Macio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6A34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-1.20 s/volta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BE123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3.5% / volta (zera w)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BE123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Cliff @ 65%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B4530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4: PIT_MEDIUM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78350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Box (+22s): Pneu Médio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0.00 s/volta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B4530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2.2% / volta (zera w)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B4530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Cliff @ 72%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CE8"/>
                    </a:solidFill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5: PIT_HARD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Box (+22s): Pneu Duro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+1.00 s/volta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15803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1.4% / volta (zera w)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Cliff @ 80%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7" name="Google Shape;117;p14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DECISÃO VOLTA A VOLTA • DISCRETE(6)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09600" y="723900"/>
            <a:ext cx="11582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Espaço de Ações: Ritmo de Pista vs. Pit Stop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09600" y="6172200"/>
            <a:ext cx="1158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Gatilho Tire Cliff: Acima do limite do composto, a perda salta para potência γ = 3.5 (+8.5 s/volta).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/>
          <p:nvPr/>
        </p:nvSpPr>
        <p:spPr>
          <a:xfrm>
            <a:off x="609600" y="1424880"/>
            <a:ext cx="10972800" cy="1051173"/>
          </a:xfrm>
          <a:prstGeom prst="roundRect">
            <a:avLst>
              <a:gd fmla="val 1087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09600" y="3619202"/>
            <a:ext cx="3505200" cy="19431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4343400" y="3623964"/>
            <a:ext cx="3505200" cy="1933575"/>
          </a:xfrm>
          <a:prstGeom prst="roundRect">
            <a:avLst>
              <a:gd fmla="val 59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8077200" y="3623964"/>
            <a:ext cx="3505200" cy="1933575"/>
          </a:xfrm>
          <a:prstGeom prst="roundRect">
            <a:avLst>
              <a:gd fmla="val 5911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1958280"/>
            <a:ext cx="5502026" cy="25107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OTIMIZAÇÃO DE HORIZONTE FINITO • RETORNO ACUMULADO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09600" y="723900"/>
            <a:ext cx="11582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Função de Recompensa e Critérios Terminais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52500" y="1691580"/>
            <a:ext cx="6953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SÍNTESE DO TEMPO DE VOLTA (BASE 90S + COMPOSTO + PESO + TIRE CLIFF + PIT)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417532" y="1793230"/>
            <a:ext cx="282196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Rₜ = -(Tₗₐₚ - 90.0)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14400" y="3924002"/>
            <a:ext cx="3619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-(Tₗₐₚ - 90s)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14400" y="4457402"/>
            <a:ext cx="38004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Passo por Volta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14400" y="4800302"/>
            <a:ext cx="2990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Penaliza os segundos acima do tempo base de 90s.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4648200" y="3928764"/>
            <a:ext cx="36195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6A3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+20 / -100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4648200" y="4452639"/>
            <a:ext cx="38004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Regra FIA (Volta 50)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4648200" y="4795539"/>
            <a:ext cx="2990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+20 pts com 2+ compostos ou -100 pts (DSQ).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8382000" y="3928764"/>
            <a:ext cx="36195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C262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-50 pts (DNF)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382000" y="4452639"/>
            <a:ext cx="38004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91B1B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Estouro (w ≥ 1.0)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382000" y="4795539"/>
            <a:ext cx="2990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+60s no tempo da volta e término imediato.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